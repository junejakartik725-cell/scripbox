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6275EF-54E0-3347-BA7A-5BD64FF1ADB2}" v="1" dt="2026-09-17T11:47:10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ay Trehan" userId="850b0d16-009b-4901-b5df-077c6c2f69bb" providerId="ADAL" clId="{06BA7EF6-834D-5097-A828-A5E38E38F538}"/>
    <pc:docChg chg="custSel modSld">
      <pc:chgData name="Abhay Trehan" userId="850b0d16-009b-4901-b5df-077c6c2f69bb" providerId="ADAL" clId="{06BA7EF6-834D-5097-A828-A5E38E38F538}" dt="2026-09-17T11:48:27.582" v="42" actId="14100"/>
      <pc:docMkLst>
        <pc:docMk/>
      </pc:docMkLst>
      <pc:sldChg chg="modSp mod">
        <pc:chgData name="Abhay Trehan" userId="850b0d16-009b-4901-b5df-077c6c2f69bb" providerId="ADAL" clId="{06BA7EF6-834D-5097-A828-A5E38E38F538}" dt="2026-09-17T11:45:35.273" v="11" actId="20577"/>
        <pc:sldMkLst>
          <pc:docMk/>
          <pc:sldMk cId="0" sldId="256"/>
        </pc:sldMkLst>
        <pc:spChg chg="mod">
          <ac:chgData name="Abhay Trehan" userId="850b0d16-009b-4901-b5df-077c6c2f69bb" providerId="ADAL" clId="{06BA7EF6-834D-5097-A828-A5E38E38F538}" dt="2026-09-17T11:45:35.273" v="11" actId="20577"/>
          <ac:spMkLst>
            <pc:docMk/>
            <pc:sldMk cId="0" sldId="256"/>
            <ac:spMk id="13" creationId="{00000000-0000-0000-0000-000000000000}"/>
          </ac:spMkLst>
        </pc:spChg>
      </pc:sldChg>
      <pc:sldChg chg="delSp modSp mod">
        <pc:chgData name="Abhay Trehan" userId="850b0d16-009b-4901-b5df-077c6c2f69bb" providerId="ADAL" clId="{06BA7EF6-834D-5097-A828-A5E38E38F538}" dt="2026-09-17T11:48:27.582" v="42" actId="14100"/>
        <pc:sldMkLst>
          <pc:docMk/>
          <pc:sldMk cId="0" sldId="267"/>
        </pc:sldMkLst>
        <pc:spChg chg="mod">
          <ac:chgData name="Abhay Trehan" userId="850b0d16-009b-4901-b5df-077c6c2f69bb" providerId="ADAL" clId="{06BA7EF6-834D-5097-A828-A5E38E38F538}" dt="2026-09-17T11:48:00.209" v="37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Abhay Trehan" userId="850b0d16-009b-4901-b5df-077c6c2f69bb" providerId="ADAL" clId="{06BA7EF6-834D-5097-A828-A5E38E38F538}" dt="2026-09-17T11:48:05.582" v="38" actId="14100"/>
          <ac:spMkLst>
            <pc:docMk/>
            <pc:sldMk cId="0" sldId="267"/>
            <ac:spMk id="4" creationId="{00000000-0000-0000-0000-000000000000}"/>
          </ac:spMkLst>
        </pc:spChg>
        <pc:spChg chg="mod">
          <ac:chgData name="Abhay Trehan" userId="850b0d16-009b-4901-b5df-077c6c2f69bb" providerId="ADAL" clId="{06BA7EF6-834D-5097-A828-A5E38E38F538}" dt="2026-09-17T11:48:21.549" v="41" actId="14100"/>
          <ac:spMkLst>
            <pc:docMk/>
            <pc:sldMk cId="0" sldId="267"/>
            <ac:spMk id="7" creationId="{00000000-0000-0000-0000-000000000000}"/>
          </ac:spMkLst>
        </pc:spChg>
        <pc:spChg chg="mod">
          <ac:chgData name="Abhay Trehan" userId="850b0d16-009b-4901-b5df-077c6c2f69bb" providerId="ADAL" clId="{06BA7EF6-834D-5097-A828-A5E38E38F538}" dt="2026-09-17T11:48:14.782" v="40" actId="14100"/>
          <ac:spMkLst>
            <pc:docMk/>
            <pc:sldMk cId="0" sldId="267"/>
            <ac:spMk id="9" creationId="{00000000-0000-0000-0000-000000000000}"/>
          </ac:spMkLst>
        </pc:spChg>
        <pc:spChg chg="mod">
          <ac:chgData name="Abhay Trehan" userId="850b0d16-009b-4901-b5df-077c6c2f69bb" providerId="ADAL" clId="{06BA7EF6-834D-5097-A828-A5E38E38F538}" dt="2026-09-17T11:48:27.582" v="42" actId="14100"/>
          <ac:spMkLst>
            <pc:docMk/>
            <pc:sldMk cId="0" sldId="267"/>
            <ac:spMk id="10" creationId="{00000000-0000-0000-0000-000000000000}"/>
          </ac:spMkLst>
        </pc:spChg>
        <pc:spChg chg="mod">
          <ac:chgData name="Abhay Trehan" userId="850b0d16-009b-4901-b5df-077c6c2f69bb" providerId="ADAL" clId="{06BA7EF6-834D-5097-A828-A5E38E38F538}" dt="2026-09-17T11:47:52.086" v="36" actId="1076"/>
          <ac:spMkLst>
            <pc:docMk/>
            <pc:sldMk cId="0" sldId="267"/>
            <ac:spMk id="13" creationId="{00000000-0000-0000-0000-000000000000}"/>
          </ac:spMkLst>
        </pc:spChg>
        <pc:spChg chg="del">
          <ac:chgData name="Abhay Trehan" userId="850b0d16-009b-4901-b5df-077c6c2f69bb" providerId="ADAL" clId="{06BA7EF6-834D-5097-A828-A5E38E38F538}" dt="2026-09-17T11:46:10.739" v="12" actId="478"/>
          <ac:spMkLst>
            <pc:docMk/>
            <pc:sldMk cId="0" sldId="267"/>
            <ac:spMk id="14" creationId="{00000000-0000-0000-0000-000000000000}"/>
          </ac:spMkLst>
        </pc:spChg>
        <pc:spChg chg="del">
          <ac:chgData name="Abhay Trehan" userId="850b0d16-009b-4901-b5df-077c6c2f69bb" providerId="ADAL" clId="{06BA7EF6-834D-5097-A828-A5E38E38F538}" dt="2026-09-17T11:46:12.726" v="13" actId="478"/>
          <ac:spMkLst>
            <pc:docMk/>
            <pc:sldMk cId="0" sldId="267"/>
            <ac:spMk id="15" creationId="{00000000-0000-0000-0000-000000000000}"/>
          </ac:spMkLst>
        </pc:spChg>
        <pc:spChg chg="mod">
          <ac:chgData name="Abhay Trehan" userId="850b0d16-009b-4901-b5df-077c6c2f69bb" providerId="ADAL" clId="{06BA7EF6-834D-5097-A828-A5E38E38F538}" dt="2026-09-17T11:46:32.482" v="19" actId="1076"/>
          <ac:spMkLst>
            <pc:docMk/>
            <pc:sldMk cId="0" sldId="267"/>
            <ac:spMk id="16" creationId="{00000000-0000-0000-0000-000000000000}"/>
          </ac:spMkLst>
        </pc:spChg>
      </pc:sldChg>
      <pc:sldChg chg="modSp mod">
        <pc:chgData name="Abhay Trehan" userId="850b0d16-009b-4901-b5df-077c6c2f69bb" providerId="ADAL" clId="{06BA7EF6-834D-5097-A828-A5E38E38F538}" dt="2026-09-17T11:41:11.444" v="8" actId="20577"/>
        <pc:sldMkLst>
          <pc:docMk/>
          <pc:sldMk cId="0" sldId="268"/>
        </pc:sldMkLst>
        <pc:spChg chg="mod">
          <ac:chgData name="Abhay Trehan" userId="850b0d16-009b-4901-b5df-077c6c2f69bb" providerId="ADAL" clId="{06BA7EF6-834D-5097-A828-A5E38E38F538}" dt="2026-09-17T11:41:11.444" v="8" actId="20577"/>
          <ac:spMkLst>
            <pc:docMk/>
            <pc:sldMk cId="0" sldId="268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185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hay2506bbafai25-web" TargetMode="External"/><Relationship Id="rId7" Type="http://schemas.openxmlformats.org/officeDocument/2006/relationships/hyperlink" Target="https://github.com/gurkimat" TargetMode="External"/><Relationship Id="rId2" Type="http://schemas.openxmlformats.org/officeDocument/2006/relationships/hyperlink" Target="https://github.com/doomraarush-sudo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unejakartik725-cell" TargetMode="External"/><Relationship Id="rId5" Type="http://schemas.openxmlformats.org/officeDocument/2006/relationships/hyperlink" Target="https://github.com/hardik2606bbafai25-spec" TargetMode="External"/><Relationship Id="rId4" Type="http://schemas.openxmlformats.org/officeDocument/2006/relationships/hyperlink" Target="https://github.com/chalanaharry-pixe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2188952" cy="6858000"/>
          </a:xfrm>
          <a:prstGeom prst="rect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8869680" y="5394960"/>
            <a:ext cx="384048" cy="457200"/>
          </a:xfrm>
          <a:prstGeom prst="rect">
            <a:avLst/>
          </a:prstGeom>
          <a:solidFill>
            <a:srgbClr val="1B3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372600" y="5029200"/>
            <a:ext cx="384048" cy="822960"/>
          </a:xfrm>
          <a:prstGeom prst="rect">
            <a:avLst/>
          </a:prstGeom>
          <a:solidFill>
            <a:srgbClr val="1B3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75520" y="4663440"/>
            <a:ext cx="384048" cy="1188720"/>
          </a:xfrm>
          <a:prstGeom prst="rect">
            <a:avLst/>
          </a:prstGeom>
          <a:solidFill>
            <a:srgbClr val="1B3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378440" y="4297680"/>
            <a:ext cx="384048" cy="1554480"/>
          </a:xfrm>
          <a:prstGeom prst="rect">
            <a:avLst/>
          </a:prstGeom>
          <a:solidFill>
            <a:srgbClr val="1B3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881360" y="3749040"/>
            <a:ext cx="384048" cy="2103120"/>
          </a:xfrm>
          <a:prstGeom prst="rect">
            <a:avLst/>
          </a:prstGeom>
          <a:solidFill>
            <a:srgbClr val="1B3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384280" y="3200400"/>
            <a:ext cx="384048" cy="2651760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BUSINESS SCHOOL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3172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Digital Wealth Management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Robo-Advisory Case Study — Scripbox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41248" y="3977640"/>
            <a:ext cx="237744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13540" y="4339106"/>
            <a:ext cx="8686800" cy="1476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           </a:t>
            </a:r>
            <a:r>
              <a:rPr lang="en-US" sz="10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Abhay Trehan(2520992506), Kartik Juneja(2520992649),Harry </a:t>
            </a:r>
            <a:r>
              <a:rPr lang="en-US" sz="1050" b="1" kern="0" spc="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chalana</a:t>
            </a:r>
            <a:r>
              <a:rPr lang="en-US" sz="10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(2520992611),Arush(2520992549) </a:t>
            </a:r>
          </a:p>
          <a:p>
            <a:pPr marL="0" indent="0">
              <a:buNone/>
            </a:pPr>
            <a:r>
              <a:rPr lang="en-US" sz="10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</a:t>
            </a:r>
          </a:p>
          <a:p>
            <a:pPr marL="0" indent="0">
              <a:buNone/>
            </a:pPr>
            <a:r>
              <a:rPr lang="en-US" sz="10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Hardik </a:t>
            </a:r>
            <a:r>
              <a:rPr lang="en-US" sz="1050" b="1" kern="0" spc="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gagneja</a:t>
            </a:r>
            <a:r>
              <a:rPr lang="en-US" sz="10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(2520992606) , </a:t>
            </a:r>
            <a:r>
              <a:rPr lang="en-US" sz="1050" b="1" kern="0" spc="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Gurkimat</a:t>
            </a:r>
            <a:r>
              <a:rPr lang="en-US" sz="10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kern="0" spc="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</a:t>
            </a:r>
            <a:r>
              <a:rPr lang="en-US" sz="10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(2520992600)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41248" y="4727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51114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51114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54955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                </a:t>
            </a:r>
            <a:r>
              <a:rPr lang="en-US" sz="10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Scripbox — Digital Wealth Management, India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Scripbox is an online investment platform that helps everyday Indians save, invest and grow their money through curated mutual funds and goal-based financial plans — combining human advisory expertise with algorithm-driven fund selection.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6492240" cy="960120"/>
          </a:xfrm>
          <a:prstGeom prst="roundRect">
            <a:avLst>
              <a:gd name="adj" fmla="val 7619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3016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Salaried professionals, first-time investors and families across urban India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6492240" cy="960120"/>
          </a:xfrm>
          <a:prstGeom prst="roundRect">
            <a:avLst>
              <a:gd name="adj" fmla="val 7619"/>
            </a:avLst>
          </a:prstGeom>
          <a:solidFill>
            <a:srgbClr val="F4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44348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offers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2744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SIPs, mutual fund portfolios, retirement, child-education and wealth-goal plans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440680"/>
            <a:ext cx="6492240" cy="960120"/>
          </a:xfrm>
          <a:prstGeom prst="roundRect">
            <a:avLst>
              <a:gd name="adj" fmla="val 7619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5532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competes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8247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+ low-cost, data-backed fund curation instead of manual, fee-heavy advisory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174"/>
            </a:avLst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266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331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Digital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Wealth-Tech Boom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34290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incomes, smartphone-first investors and SEBI-regulated robo-advisory are pushing mutual-fund platforms to automate advice at scale — while keeping it personal, transparent and compliant.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Advisor Can't Personally Profile Every Client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Scripbox scales to lakhs of investors, manually interviewing each client to judge risk appetite and manually comparing hundreds of mutual funds doesn't scale — and produces inconsistent advice from person to person.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7F8F8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3108960"/>
            <a:ext cx="502920" cy="50292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1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94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onboarding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89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questionnaires and advisor calls delay a client's first investment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283464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7F8F8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03320" y="3108960"/>
            <a:ext cx="502920" cy="50292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7033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1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risk-tagging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389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advisors can rate the same client differently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283464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7F8F8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629400" y="3108960"/>
            <a:ext cx="502920" cy="50292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6294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1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794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overload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389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mutual funds make manual comparison impractical for clients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26880" y="283464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7F8F8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555480" y="3108960"/>
            <a:ext cx="502920" cy="50292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5554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1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3794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retention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509760" y="4389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Mismatched, generic advice causes clients to disengage or exit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Data Streams Feed the AI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ONBOARDING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496312"/>
            <a:ext cx="82296" cy="82296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97280" y="24231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 &amp; number of dependents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999232"/>
            <a:ext cx="82296" cy="82296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97280" y="2926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investable surplus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502152"/>
            <a:ext cx="82296" cy="82296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97280" y="34290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investments held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005072"/>
            <a:ext cx="82296" cy="82296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097280" y="3931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horizon (years)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507992"/>
            <a:ext cx="82296" cy="82296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97280" y="44348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to a past market drop (behavioural signal)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73736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F4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4652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49631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720840" y="24231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category (Large / Mid / Small Cap, Debt, Hybrid)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299923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720840" y="29260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1-, 3- and 5-year returns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350215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720840" y="34290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 &amp; standard deviation (cost / risk)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400507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720840" y="3931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(risk-adjusted return)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450799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720840" y="4434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rating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real customer/fund data isn't public — the model here is demonstrated on synthetic data built to the same structure.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 Working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65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RANDOM FOREST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Profiling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client onboarding data to predict whether a client is Conservative, Moderate or Aggressive — replacing manual questionnaire scoring with a consistent, data-driven decision.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4617720"/>
            <a:ext cx="47091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14400" y="4754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0292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mixed numeric features well, resists noise, and gives explainable feature-importance scores — important for compliance.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583680" y="1965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WEIGHTED SCORING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286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Ranking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92608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and ranks every mutual fund on a weighted composite of returns, risk, cost and quality — a lighter version of the ~25-factor approach used by real robo-advisors.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0" y="4617720"/>
            <a:ext cx="47091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583680" y="4754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50292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formula (not a black box) — every weight can be shown and justified to a client or regulator.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SOLUTION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Client Data to a Confident Investment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58368" y="2514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Data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03580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 info + fund performance data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2377440"/>
            <a:ext cx="4229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46070" y="23774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955798" y="2514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 System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955798" y="303580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+ weighted scoring engine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720590" y="2377440"/>
            <a:ext cx="4229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43500" y="23774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253228" y="2514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253228" y="303580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 (e.g. "Moderate") + ranked fund shortlist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018020" y="2377440"/>
            <a:ext cx="4229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40930" y="23774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550658" y="2514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Action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550658" y="303580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matches shortlisted funds to the client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315450" y="2377440"/>
            <a:ext cx="4229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738360" y="23774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848088" y="2514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Outcome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848088" y="303580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invests via SIP with a projected wealth goal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43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 model predicts the client's risk category; the scoring engine independently ranks funds. The platform then combines both to shortlist funds matching that client's risk profile — turning raw data into a specific, explainable recommendation.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77240" y="5468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CLIENT (from the demo model)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7790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29 · ₹90,000/month income · 15-year horizon · ₹25,000/month SIP  →  Predicted profile: Moderate  →  Top funds: Hybrid &amp; Large Cap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Automation Is Worth to Scripbox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onboarding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900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profiling happens in seconds, not a phone call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6280" y="2011680"/>
            <a:ext cx="457200" cy="457200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262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advice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9900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is scored the same objective way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75320" y="2011680"/>
            <a:ext cx="457200" cy="457200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2753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Personalised fit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9900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shortlist matches each client's real risk appetite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709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trust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0932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wealth-projection makes the plan feel concrete, not abstract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26280" y="4114800"/>
            <a:ext cx="457200" cy="457200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5262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709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Scales cheaply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50932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can profile lakhs of clients, not a large advisory team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8862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75320" y="4114800"/>
            <a:ext cx="457200" cy="457200"/>
          </a:xfrm>
          <a:prstGeom prst="ellipse">
            <a:avLst/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2753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709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retention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50932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recommendations reduce drop-off after onboarding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ETHICS &amp; RESPONSIBLE 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Earns Trust Only With Safeguards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labels must be audited across age/income groups so profiling doesn't skew unfairly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2628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377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scoring weights are shown to clients/advisors, not hidden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7532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oversight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377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requires a human-reviewable audit trail — the model supports, not replaces, advisor sign-off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177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behavioural data is sensitive — needs encryption, access control, consent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2628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risk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6177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assumptions are projections, not guarantees — mis-set expectations are a real regulatory risk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&amp; PROMPTS USED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Used Generative AI for Research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901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04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robo-advisory concepts &amp; structuring the case study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26280" y="1901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304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risk-profiling approaches and building this project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75320" y="1901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Perplexity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304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sources on Scripbox and India's wealth-tech industry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64240" cy="2651760"/>
          </a:xfrm>
          <a:prstGeom prst="roundRect">
            <a:avLst>
              <a:gd name="adj" fmla="val 3448"/>
            </a:avLst>
          </a:prstGeom>
          <a:solidFill>
            <a:srgbClr val="F4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RESEARCH PROMPT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0233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how robo-advisory platforms in India, such as Scripbox, use AI/ML for client risk profiling and mutual-fund recommendation. Include the ML technique used, business benefits, risks, and reliable sources.”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394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scope the topic, get an accurate business-flow vocabulary, and identify what a real robo-advisor's AI/ML architecture typically includes — later verified against public sources.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IMPROVEMENT &amp; AI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Generic Question to a Usable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7F8F8"/>
          </a:solidFill>
          <a:ln w="12700">
            <a:solidFill>
              <a:srgbClr val="E1E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PROMPT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robo-advisors in India.”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broad, generic overview — no specific ML technique, no business metrics, no sources.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1C7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PROMPT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2860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 as a fintech analyst. Explain how Scripbox uses AI/ML for risk profiling and fund recommendation — the specific technique, business benefits, risks, and cite reliable sources.”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specific, structured, source-backed answer we could actually verify and use.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IMPROVED PROMPT WORKED BETTER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928616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4846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the AI a role (“fintech analyst”) to shape tone and depth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5385816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5303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the exact company and outcome needed, not a vague topic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5843016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asked for sources — forcing verifiable, checkable output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XAI Feature-Importance Chart Tells Us to Do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11480" cy="41148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9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801368"/>
            <a:ext cx="576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investment horizon &amp; market-drop reaction first — they drive ~67% of the risk score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411480" cy="41148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9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68296"/>
            <a:ext cx="576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explainability dashboard around these two dominant drivers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411480" cy="41148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9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935224"/>
            <a:ext cx="576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horizon &amp; reaction inputs for hidden age, income or gender bias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83864"/>
            <a:ext cx="411480" cy="41148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9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502152"/>
            <a:ext cx="576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mandatory advisor sign-off — two features carry most of the weight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411480" cy="411480"/>
          </a:xfrm>
          <a:prstGeom prst="ellipse">
            <a:avLst/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9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069080"/>
            <a:ext cx="576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a shorter onboarding flow built on just these two questions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0F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2296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193792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XAI feature-importance chart shows risk profiling is really driven by two signals — investment horizon and reaction to a past market drop (~67% combined). That concentration makes the model easy to explain, but it also means Scripbox must protect the quality of just those two inputs and keep a human advisor accountable for the final call.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43328" y="1953768"/>
            <a:ext cx="4691760" cy="25847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E1E7"/>
            </a:solidFill>
          </a:ln>
          <a:effectLst>
            <a:outerShdw blurRad="90000" dist="20000" dir="5400000" rotWithShape="0">
              <a:srgbClr val="0F2C46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XAI Feature Importance Chart" descr="Bar chart of Gini feature importance scores showing investment_horizon_years and market_drop_reaction as the two dominant drivers of customer risk profil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240" y="2044514"/>
            <a:ext cx="4509120" cy="240321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134240" y="4499429"/>
            <a:ext cx="450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output: Gini feature-importance by driver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REFLECTION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0462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79"/>
            <a:ext cx="3520440" cy="2705793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+ AI together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AI solution starts from a clear business problem, not a model looking for a use case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20440" cy="2705792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26280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matters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688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finance, a model must justify its decisions — accuracy alone isn't enough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20440" cy="2705792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75320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is a skill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68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role, specifics and “cite sources” turned vague AI answers into usable research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93192" y="845820"/>
            <a:ext cx="11064240" cy="640080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Took Away From This Project</a:t>
            </a:r>
            <a:endParaRPr lang="en-US" sz="2800" dirty="0"/>
          </a:p>
          <a:p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GitHub Repositories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20000"/>
            <a:ext cx="11091672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repositories submitted by each team member for this project</a:t>
            </a:r>
            <a:endParaRPr lang="en-US" sz="1300" dirty="0"/>
          </a:p>
        </p:txBody>
      </p:sp>
      <p:sp>
        <p:nvSpPr>
          <p:cNvPr id="5" name="Card 0"/>
          <p:cNvSpPr/>
          <p:nvPr/>
        </p:nvSpPr>
        <p:spPr>
          <a:xfrm>
            <a:off x="548640" y="2050000"/>
            <a:ext cx="3520440" cy="185000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Label 0"/>
          <p:cNvSpPr txBox="1"/>
          <p:nvPr/>
        </p:nvSpPr>
        <p:spPr>
          <a:xfrm>
            <a:off x="822960" y="22786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7" name="Name 0"/>
          <p:cNvSpPr txBox="1"/>
          <p:nvPr/>
        </p:nvSpPr>
        <p:spPr>
          <a:xfrm>
            <a:off x="822960" y="2644000"/>
            <a:ext cx="29718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Arush</a:t>
            </a:r>
            <a:endParaRPr lang="en-US" sz="1600" dirty="0"/>
          </a:p>
        </p:txBody>
      </p:sp>
      <p:sp>
        <p:nvSpPr>
          <p:cNvPr id="8" name="Link 0"/>
          <p:cNvSpPr txBox="1"/>
          <p:nvPr/>
        </p:nvSpPr>
        <p:spPr>
          <a:xfrm>
            <a:off x="822960" y="3170000"/>
            <a:ext cx="29718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github.com/doomraarush-sudo</a:t>
            </a:r>
            <a:endParaRPr lang="en-US" sz="1050" dirty="0"/>
          </a:p>
        </p:txBody>
      </p:sp>
      <p:sp>
        <p:nvSpPr>
          <p:cNvPr id="9" name="Card 1"/>
          <p:cNvSpPr/>
          <p:nvPr/>
        </p:nvSpPr>
        <p:spPr>
          <a:xfrm>
            <a:off x="4297680" y="2050000"/>
            <a:ext cx="3520440" cy="185000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Label 1"/>
          <p:cNvSpPr txBox="1"/>
          <p:nvPr/>
        </p:nvSpPr>
        <p:spPr>
          <a:xfrm>
            <a:off x="4572000" y="22786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11" name="Name 1"/>
          <p:cNvSpPr txBox="1"/>
          <p:nvPr/>
        </p:nvSpPr>
        <p:spPr>
          <a:xfrm>
            <a:off x="4572000" y="2644000"/>
            <a:ext cx="29718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Abhay Trehan</a:t>
            </a:r>
            <a:endParaRPr lang="en-US" sz="1600" dirty="0"/>
          </a:p>
        </p:txBody>
      </p:sp>
      <p:sp>
        <p:nvSpPr>
          <p:cNvPr id="12" name="Link 1"/>
          <p:cNvSpPr txBox="1"/>
          <p:nvPr/>
        </p:nvSpPr>
        <p:spPr>
          <a:xfrm>
            <a:off x="4572000" y="3170000"/>
            <a:ext cx="29718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github.com/abhay2506bbafai25-web</a:t>
            </a:r>
            <a:endParaRPr lang="en-US" sz="1050" dirty="0"/>
          </a:p>
        </p:txBody>
      </p:sp>
      <p:sp>
        <p:nvSpPr>
          <p:cNvPr id="13" name="Card 2"/>
          <p:cNvSpPr/>
          <p:nvPr/>
        </p:nvSpPr>
        <p:spPr>
          <a:xfrm>
            <a:off x="8046720" y="2050000"/>
            <a:ext cx="3520440" cy="185000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Label 2"/>
          <p:cNvSpPr txBox="1"/>
          <p:nvPr/>
        </p:nvSpPr>
        <p:spPr>
          <a:xfrm>
            <a:off x="8321040" y="22786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15" name="Name 2"/>
          <p:cNvSpPr txBox="1"/>
          <p:nvPr/>
        </p:nvSpPr>
        <p:spPr>
          <a:xfrm>
            <a:off x="8321040" y="2644000"/>
            <a:ext cx="29718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Harry Chalana</a:t>
            </a:r>
            <a:endParaRPr lang="en-US" sz="1600" dirty="0"/>
          </a:p>
        </p:txBody>
      </p:sp>
      <p:sp>
        <p:nvSpPr>
          <p:cNvPr id="16" name="Link 2"/>
          <p:cNvSpPr txBox="1"/>
          <p:nvPr/>
        </p:nvSpPr>
        <p:spPr>
          <a:xfrm>
            <a:off x="8321040" y="3170000"/>
            <a:ext cx="29718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github.com/chalanaharry-pixel</a:t>
            </a:r>
            <a:endParaRPr lang="en-US" sz="1050" dirty="0"/>
          </a:p>
        </p:txBody>
      </p:sp>
      <p:sp>
        <p:nvSpPr>
          <p:cNvPr id="17" name="Card 3"/>
          <p:cNvSpPr/>
          <p:nvPr/>
        </p:nvSpPr>
        <p:spPr>
          <a:xfrm>
            <a:off x="548640" y="4128600"/>
            <a:ext cx="3520440" cy="185000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Label 3"/>
          <p:cNvSpPr txBox="1"/>
          <p:nvPr/>
        </p:nvSpPr>
        <p:spPr>
          <a:xfrm>
            <a:off x="822960" y="4357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19" name="Name 3"/>
          <p:cNvSpPr txBox="1"/>
          <p:nvPr/>
        </p:nvSpPr>
        <p:spPr>
          <a:xfrm>
            <a:off x="822960" y="4722600"/>
            <a:ext cx="29718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Hardik Gagneja</a:t>
            </a:r>
            <a:endParaRPr lang="en-US" sz="1600" dirty="0"/>
          </a:p>
        </p:txBody>
      </p:sp>
      <p:sp>
        <p:nvSpPr>
          <p:cNvPr id="20" name="Link 3"/>
          <p:cNvSpPr txBox="1"/>
          <p:nvPr/>
        </p:nvSpPr>
        <p:spPr>
          <a:xfrm>
            <a:off x="822960" y="5248600"/>
            <a:ext cx="29718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github.com/hardik2606bbafai25-spec</a:t>
            </a:r>
            <a:endParaRPr lang="en-US" sz="1050" dirty="0"/>
          </a:p>
        </p:txBody>
      </p:sp>
      <p:sp>
        <p:nvSpPr>
          <p:cNvPr id="21" name="Card 4"/>
          <p:cNvSpPr/>
          <p:nvPr/>
        </p:nvSpPr>
        <p:spPr>
          <a:xfrm>
            <a:off x="4297680" y="4128600"/>
            <a:ext cx="3520440" cy="185000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Label 4"/>
          <p:cNvSpPr txBox="1"/>
          <p:nvPr/>
        </p:nvSpPr>
        <p:spPr>
          <a:xfrm>
            <a:off x="4572000" y="4357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23" name="Name 4"/>
          <p:cNvSpPr txBox="1"/>
          <p:nvPr/>
        </p:nvSpPr>
        <p:spPr>
          <a:xfrm>
            <a:off x="4572000" y="4722600"/>
            <a:ext cx="29718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Kartik Juneja</a:t>
            </a:r>
            <a:endParaRPr lang="en-US" sz="1600" dirty="0"/>
          </a:p>
        </p:txBody>
      </p:sp>
      <p:sp>
        <p:nvSpPr>
          <p:cNvPr id="24" name="Link 4"/>
          <p:cNvSpPr txBox="1"/>
          <p:nvPr/>
        </p:nvSpPr>
        <p:spPr>
          <a:xfrm>
            <a:off x="4572000" y="5248600"/>
            <a:ext cx="29718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github.com/junejakartik725-cell</a:t>
            </a:r>
            <a:endParaRPr lang="en-US" sz="1050" dirty="0"/>
          </a:p>
        </p:txBody>
      </p:sp>
      <p:sp>
        <p:nvSpPr>
          <p:cNvPr id="25" name="Card 5"/>
          <p:cNvSpPr/>
          <p:nvPr/>
        </p:nvSpPr>
        <p:spPr>
          <a:xfrm>
            <a:off x="8046720" y="4128600"/>
            <a:ext cx="3520440" cy="1850000"/>
          </a:xfrm>
          <a:prstGeom prst="roundRect">
            <a:avLst>
              <a:gd name="adj" fmla="val 3721"/>
            </a:avLst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Label 5"/>
          <p:cNvSpPr txBox="1"/>
          <p:nvPr/>
        </p:nvSpPr>
        <p:spPr>
          <a:xfrm>
            <a:off x="8321040" y="4357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27" name="Name 5"/>
          <p:cNvSpPr txBox="1"/>
          <p:nvPr/>
        </p:nvSpPr>
        <p:spPr>
          <a:xfrm>
            <a:off x="8321040" y="4722600"/>
            <a:ext cx="29718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Gurkimat Singh</a:t>
            </a:r>
            <a:endParaRPr lang="en-US" sz="1600" dirty="0"/>
          </a:p>
        </p:txBody>
      </p:sp>
      <p:sp>
        <p:nvSpPr>
          <p:cNvPr id="28" name="Link 5"/>
          <p:cNvSpPr txBox="1"/>
          <p:nvPr/>
        </p:nvSpPr>
        <p:spPr>
          <a:xfrm>
            <a:off x="8321040" y="5248600"/>
            <a:ext cx="29718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github.com/gurkimat</a:t>
            </a:r>
            <a:endParaRPr lang="en-US" sz="1050" dirty="0"/>
          </a:p>
        </p:txBody>
      </p:sp>
      <p:sp>
        <p:nvSpPr>
          <p:cNvPr id="29" name="Text page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1337</Words>
  <Application>Microsoft Macintosh PowerPoint</Application>
  <PresentationFormat>Widescreen</PresentationFormat>
  <Paragraphs>204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Abhay Trehan</cp:lastModifiedBy>
  <cp:revision>3</cp:revision>
  <dcterms:created xsi:type="dcterms:W3CDTF">2026-09-16T18:40:36Z</dcterms:created>
  <dcterms:modified xsi:type="dcterms:W3CDTF">2026-09-17T11:48:35Z</dcterms:modified>
</cp:coreProperties>
</file>